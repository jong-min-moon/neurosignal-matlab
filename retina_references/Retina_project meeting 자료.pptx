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485" r:id="rId1"/>
  </p:sldMasterIdLst>
  <p:notesMasterIdLst>
    <p:notesMasterId r:id="rId10"/>
  </p:notesMasterIdLst>
  <p:handoutMasterIdLst>
    <p:handoutMasterId r:id="rId11"/>
  </p:handoutMasterIdLst>
  <p:sldIdLst>
    <p:sldId id="823" r:id="rId2"/>
    <p:sldId id="997" r:id="rId3"/>
    <p:sldId id="1001" r:id="rId4"/>
    <p:sldId id="992" r:id="rId5"/>
    <p:sldId id="1003" r:id="rId6"/>
    <p:sldId id="1002" r:id="rId7"/>
    <p:sldId id="993" r:id="rId8"/>
    <p:sldId id="994" r:id="rId9"/>
  </p:sldIdLst>
  <p:sldSz cx="9144000" cy="6858000" type="screen4x3"/>
  <p:notesSz cx="6735763" cy="98663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-8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-8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-8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-8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-84" charset="0"/>
        <a:ea typeface="+mn-ea"/>
        <a:cs typeface="Arial" pitchFamily="34" charset="0"/>
      </a:defRPr>
    </a:lvl5pPr>
    <a:lvl6pPr marL="2286000" algn="l" defTabSz="914400" rtl="0" eaLnBrk="1" latinLnBrk="1" hangingPunct="1">
      <a:defRPr sz="2400" b="1" kern="1200">
        <a:solidFill>
          <a:schemeClr val="tx1"/>
        </a:solidFill>
        <a:latin typeface="Times" pitchFamily="-84" charset="0"/>
        <a:ea typeface="+mn-ea"/>
        <a:cs typeface="Arial" pitchFamily="34" charset="0"/>
      </a:defRPr>
    </a:lvl6pPr>
    <a:lvl7pPr marL="2743200" algn="l" defTabSz="914400" rtl="0" eaLnBrk="1" latinLnBrk="1" hangingPunct="1">
      <a:defRPr sz="2400" b="1" kern="1200">
        <a:solidFill>
          <a:schemeClr val="tx1"/>
        </a:solidFill>
        <a:latin typeface="Times" pitchFamily="-84" charset="0"/>
        <a:ea typeface="+mn-ea"/>
        <a:cs typeface="Arial" pitchFamily="34" charset="0"/>
      </a:defRPr>
    </a:lvl7pPr>
    <a:lvl8pPr marL="3200400" algn="l" defTabSz="914400" rtl="0" eaLnBrk="1" latinLnBrk="1" hangingPunct="1">
      <a:defRPr sz="2400" b="1" kern="1200">
        <a:solidFill>
          <a:schemeClr val="tx1"/>
        </a:solidFill>
        <a:latin typeface="Times" pitchFamily="-84" charset="0"/>
        <a:ea typeface="+mn-ea"/>
        <a:cs typeface="Arial" pitchFamily="34" charset="0"/>
      </a:defRPr>
    </a:lvl8pPr>
    <a:lvl9pPr marL="3657600" algn="l" defTabSz="914400" rtl="0" eaLnBrk="1" latinLnBrk="1" hangingPunct="1">
      <a:defRPr sz="2400" b="1" kern="1200">
        <a:solidFill>
          <a:schemeClr val="tx1"/>
        </a:solidFill>
        <a:latin typeface="Times" pitchFamily="-84" charset="0"/>
        <a:ea typeface="+mn-ea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Intro" id="{4D71A86F-E409-4872-9400-4B4065CD4F18}">
          <p14:sldIdLst>
            <p14:sldId id="823"/>
            <p14:sldId id="997"/>
            <p14:sldId id="1001"/>
            <p14:sldId id="992"/>
            <p14:sldId id="1003"/>
            <p14:sldId id="1002"/>
            <p14:sldId id="993"/>
            <p14:sldId id="9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원기 정" initials="원정" lastIdx="1" clrIdx="0">
    <p:extLst>
      <p:ext uri="{19B8F6BF-5375-455C-9EA6-DF929625EA0E}">
        <p15:presenceInfo xmlns:p15="http://schemas.microsoft.com/office/powerpoint/2012/main" userId="1f30e7be238ac8be" providerId="Windows Live"/>
      </p:ext>
    </p:extLst>
  </p:cmAuthor>
  <p:cmAuthor id="2" name="정원기" initials="정" lastIdx="1" clrIdx="1">
    <p:extLst>
      <p:ext uri="{19B8F6BF-5375-455C-9EA6-DF929625EA0E}">
        <p15:presenceInfo xmlns:p15="http://schemas.microsoft.com/office/powerpoint/2012/main" userId="정원기" providerId="None"/>
      </p:ext>
    </p:extLst>
  </p:cmAuthor>
  <p:cmAuthor id="3" name="정원기" initials="정 [2]" lastIdx="3" clrIdx="2">
    <p:extLst>
      <p:ext uri="{19B8F6BF-5375-455C-9EA6-DF929625EA0E}">
        <p15:presenceInfo xmlns:p15="http://schemas.microsoft.com/office/powerpoint/2012/main" userId="S::dnjsrl1216@o365.yonsei.ac.kr::b20a829e-1b99-4c5e-9bfa-0622d01bbb8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E579C6"/>
    <a:srgbClr val="C0C0EA"/>
    <a:srgbClr val="AFAEAE"/>
    <a:srgbClr val="B2AD5D"/>
    <a:srgbClr val="4E989C"/>
    <a:srgbClr val="9ED3D7"/>
    <a:srgbClr val="595959"/>
    <a:srgbClr val="CCCCCC"/>
    <a:srgbClr val="9C9C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598" autoAdjust="0"/>
    <p:restoredTop sz="96353" autoAdjust="0"/>
  </p:normalViewPr>
  <p:slideViewPr>
    <p:cSldViewPr>
      <p:cViewPr varScale="1">
        <p:scale>
          <a:sx n="111" d="100"/>
          <a:sy n="111" d="100"/>
        </p:scale>
        <p:origin x="114" y="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4008" y="90"/>
      </p:cViewPr>
      <p:guideLst>
        <p:guide orient="horz" pos="3108"/>
        <p:guide pos="21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38492" cy="486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" charset="0"/>
                <a:ea typeface="굴림" pitchFamily="34" charset="-127"/>
                <a:cs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1721" y="0"/>
            <a:ext cx="2938491" cy="486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" charset="0"/>
                <a:ea typeface="굴림" pitchFamily="34" charset="-127"/>
                <a:cs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93271"/>
            <a:ext cx="2938492" cy="486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" charset="0"/>
                <a:ea typeface="굴림" pitchFamily="34" charset="-127"/>
                <a:cs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1721" y="9393271"/>
            <a:ext cx="2938491" cy="486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" charset="0"/>
                <a:ea typeface="굴림" pitchFamily="34" charset="-127"/>
                <a:cs typeface="Arial" charset="0"/>
              </a:defRPr>
            </a:lvl1pPr>
          </a:lstStyle>
          <a:p>
            <a:pPr>
              <a:defRPr/>
            </a:pPr>
            <a:fld id="{67A77C2C-6180-40AA-88E5-4F5DE29CD2F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5449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8627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 b="0">
                <a:latin typeface="Arial" charset="0"/>
                <a:ea typeface="굴림" pitchFamily="34" charset="-127"/>
                <a:cs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5609" y="0"/>
            <a:ext cx="2918627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 b="0">
                <a:latin typeface="Arial" charset="0"/>
                <a:ea typeface="굴림" pitchFamily="34" charset="-127"/>
                <a:cs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39775"/>
            <a:ext cx="4932363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883" y="4686499"/>
            <a:ext cx="5387999" cy="4439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308"/>
            <a:ext cx="2918627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 b="0">
                <a:latin typeface="Arial" charset="0"/>
                <a:ea typeface="굴림" pitchFamily="34" charset="-127"/>
                <a:cs typeface="Arial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5609" y="9371308"/>
            <a:ext cx="2918627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 b="0">
                <a:latin typeface="Arial" charset="0"/>
                <a:ea typeface="굴림" pitchFamily="34" charset="-127"/>
                <a:cs typeface="Arial" charset="0"/>
              </a:defRPr>
            </a:lvl1pPr>
          </a:lstStyle>
          <a:p>
            <a:pPr>
              <a:defRPr/>
            </a:pPr>
            <a:fld id="{8F0D9035-24A6-4338-9186-ADFB458F467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94521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0D9035-24A6-4338-9186-ADFB458F467B}" type="slidenum">
              <a:rPr lang="ko-KR" altLang="en-US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59510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4" descr="title page copy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9144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그림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71600" y="35653"/>
            <a:ext cx="6400800" cy="16666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39F8865-04CE-4965-A73B-848BD6477A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209" y="40169"/>
            <a:ext cx="1657581" cy="165758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43455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37150"/>
          </a:xfrm>
        </p:spPr>
        <p:txBody>
          <a:bodyPr>
            <a:normAutofit/>
          </a:bodyPr>
          <a:lstStyle>
            <a:lvl1pPr>
              <a:defRPr sz="1800" baseline="0">
                <a:latin typeface="Arial" panose="020B0604020202020204" pitchFamily="34" charset="0"/>
                <a:ea typeface="맑은 고딕" panose="020B0503020000020004" pitchFamily="50" charset="-127"/>
              </a:defRPr>
            </a:lvl1pPr>
            <a:lvl2pPr>
              <a:defRPr sz="1600" baseline="0"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>
              <a:defRPr sz="1400" baseline="0"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>
              <a:defRPr sz="1200" baseline="0"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>
              <a:defRPr sz="1200" baseline="0">
                <a:latin typeface="Arial" panose="020B0604020202020204" pitchFamily="34" charset="0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맑은 고딕" panose="020B0503020000020004" pitchFamily="50" charset="-127"/>
              </a:defRPr>
            </a:lvl1pPr>
          </a:lstStyle>
          <a:p>
            <a:fld id="{D61A5113-4010-4A9B-9669-85D8018B964B}" type="datetime1">
              <a:rPr lang="ko-KR" altLang="en-US" smtClean="0"/>
              <a:pPr/>
              <a:t>2021-11-01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133600" cy="365125"/>
          </a:xfrm>
        </p:spPr>
        <p:txBody>
          <a:bodyPr/>
          <a:lstStyle>
            <a:lvl1pPr algn="l">
              <a:defRPr b="1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fld id="{3FF61829-5C9D-447E-915F-2F1FF8D2F9A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2" name="제목 11"/>
          <p:cNvSpPr>
            <a:spLocks noGrp="1"/>
          </p:cNvSpPr>
          <p:nvPr>
            <p:ph type="title"/>
          </p:nvPr>
        </p:nvSpPr>
        <p:spPr>
          <a:xfrm>
            <a:off x="1295636" y="301595"/>
            <a:ext cx="6552728" cy="400110"/>
          </a:xfrm>
          <a:prstGeom prst="rect">
            <a:avLst/>
          </a:prstGeom>
        </p:spPr>
        <p:txBody>
          <a:bodyPr anchor="ctr"/>
          <a:lstStyle>
            <a:lvl1pPr>
              <a:defRPr sz="2500" b="1" i="0" baseline="0"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99782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1pPr>
          </a:lstStyle>
          <a:p>
            <a:fld id="{A325F67E-72ED-4F54-8C40-25A221C3C380}" type="datetime1">
              <a:rPr lang="ko-KR" altLang="en-US" smtClean="0"/>
              <a:pPr/>
              <a:t>2021-11-01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맑은 고딕" panose="020B0503020000020004" pitchFamily="50" charset="-127"/>
              </a:defRPr>
            </a:lvl1pPr>
          </a:lstStyle>
          <a:p>
            <a:fld id="{3FF61829-5C9D-447E-915F-2F1FF8D2F9A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제목 1"/>
          <p:cNvSpPr txBox="1">
            <a:spLocks/>
          </p:cNvSpPr>
          <p:nvPr userDrawn="1"/>
        </p:nvSpPr>
        <p:spPr>
          <a:xfrm>
            <a:off x="1295636" y="300600"/>
            <a:ext cx="6552728" cy="40011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ko-KR" altLang="en-US" sz="2500" b="1" baseline="0" dirty="0">
                <a:latin typeface="Arial" panose="020B0604020202020204" pitchFamily="34" charset="0"/>
                <a:ea typeface="맑은 고딕" panose="020B0503020000020004" pitchFamily="50" charset="-127"/>
              </a:rPr>
              <a:t>마스터 제목 스타일 편집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432000" y="152400"/>
            <a:ext cx="8280000" cy="684000"/>
          </a:xfrm>
          <a:prstGeom prst="rect">
            <a:avLst/>
          </a:prstGeom>
          <a:solidFill>
            <a:srgbClr val="001C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5BEEF8B-6748-4AD4-B5B6-1D5A16E3797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091" y="183491"/>
            <a:ext cx="621818" cy="621818"/>
          </a:xfrm>
          <a:prstGeom prst="ellipse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27C462E-8570-4349-B58B-638437F949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9091" y="183491"/>
            <a:ext cx="621818" cy="62181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88347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98" r:id="rId1"/>
    <p:sldLayoutId id="2147485487" r:id="rId2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51CDED3-E97F-43E3-AB33-857F8DD592F7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4419600"/>
            <a:ext cx="8686800" cy="1676400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i="1" dirty="0">
                <a:solidFill>
                  <a:prstClr val="whit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rPr>
              <a:t>Retina-MATLAB project proposal</a:t>
            </a:r>
          </a:p>
          <a:p>
            <a:pPr fontAlgn="auto">
              <a:spcAft>
                <a:spcPts val="0"/>
              </a:spcAft>
              <a:defRPr/>
            </a:pPr>
            <a:endParaRPr lang="en-US" altLang="ko-KR" sz="1600" b="0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ko-KR" sz="1600" b="0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ko-KR" sz="1600" b="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Won Gi Chung</a:t>
            </a:r>
            <a:endParaRPr kumimoji="1" lang="en-US" altLang="ko-KR" sz="24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맑은 고딕"/>
              <a:ea typeface="굴림" pitchFamily="34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24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맑은 고딕"/>
              <a:ea typeface="굴림" pitchFamily="34" charset="-127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00B6515-55D4-4054-B6A7-0F6B83DAC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" y="5982385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굴림" pitchFamily="34" charset="-127"/>
                <a:cs typeface="Arial" pitchFamily="34" charset="0"/>
              </a:rPr>
              <a:t>Department of Materials Science and Engineering, Yonsei Univ.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14927" y="6534835"/>
            <a:ext cx="80047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itchFamily="34" charset="0"/>
              </a:rPr>
              <a:t>211101</a:t>
            </a:r>
          </a:p>
        </p:txBody>
      </p:sp>
    </p:spTree>
    <p:extLst>
      <p:ext uri="{BB962C8B-B14F-4D97-AF65-F5344CB8AC3E}">
        <p14:creationId xmlns:p14="http://schemas.microsoft.com/office/powerpoint/2010/main" val="464989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798CF0E-E215-438D-9DC4-52A395002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1829-5C9D-447E-915F-2F1FF8D2F9A6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4CED515-247C-40FF-AFB4-BFDA330DA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Suggestion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445C4A-1C4E-4BD7-ABB8-B2C4315E903D}"/>
              </a:ext>
            </a:extLst>
          </p:cNvPr>
          <p:cNvSpPr txBox="1"/>
          <p:nvPr/>
        </p:nvSpPr>
        <p:spPr>
          <a:xfrm>
            <a:off x="259200" y="968400"/>
            <a:ext cx="8312092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1. </a:t>
            </a:r>
            <a:r>
              <a:rPr lang="ko-KR" altLang="en-US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특정 </a:t>
            </a:r>
            <a:r>
              <a:rPr lang="en-US" altLang="ko-KR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amplitude( </a:t>
            </a:r>
            <a:r>
              <a:rPr lang="ko-KR" altLang="en-US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예 </a:t>
            </a:r>
            <a:r>
              <a:rPr lang="en-US" altLang="ko-KR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 60 ㎶) </a:t>
            </a:r>
            <a:r>
              <a:rPr lang="ko-KR" altLang="en-US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이상의 </a:t>
            </a:r>
            <a:r>
              <a:rPr lang="en-US" altLang="ko-KR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spike </a:t>
            </a:r>
            <a:r>
              <a:rPr lang="ko-KR" altLang="en-US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발생 시 </a:t>
            </a:r>
            <a:r>
              <a:rPr lang="en-US" altLang="ko-KR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counting</a:t>
            </a:r>
            <a:r>
              <a:rPr lang="ko-KR" altLang="en-US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이 되어 </a:t>
            </a:r>
            <a:r>
              <a:rPr lang="en-US" altLang="ko-KR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firing rate</a:t>
            </a:r>
            <a:r>
              <a:rPr lang="ko-KR" altLang="en-US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을 </a:t>
            </a:r>
            <a:r>
              <a:rPr lang="en-US" altLang="ko-KR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pixel </a:t>
            </a:r>
            <a:r>
              <a:rPr lang="ko-KR" altLang="en-US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별로 정리 가능한 코드</a:t>
            </a:r>
            <a:r>
              <a:rPr lang="en-US" altLang="ko-KR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US" altLang="ko-KR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endParaRPr lang="en-US" altLang="ko-KR" sz="120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-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기존 논문의 경우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firing rate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을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Synapse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프로그램에서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y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축이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arbitrary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하게 나오는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histogram graph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를 뽑은 다음에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직접 세보면서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peri-stimulus-time-graph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의 값을 정함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-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본 코드를 사용하면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data processing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시간을 크게 단축할 수 있고 더 정확한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plotting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이 가능할 것임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28600" indent="-228600">
              <a:buAutoNum type="arabicPeriod"/>
            </a:pPr>
            <a:endParaRPr lang="ko-KR" altLang="en-US" sz="1200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C39D9CA-75F8-4B64-BD67-CD834D3E4C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3" t="35958"/>
          <a:stretch/>
        </p:blipFill>
        <p:spPr>
          <a:xfrm>
            <a:off x="2060546" y="3698732"/>
            <a:ext cx="4495800" cy="2947779"/>
          </a:xfrm>
          <a:prstGeom prst="rect">
            <a:avLst/>
          </a:prstGeom>
        </p:spPr>
      </p:pic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A7BD26B8-B4C1-4162-AC27-FF16A5F8DEB9}"/>
              </a:ext>
            </a:extLst>
          </p:cNvPr>
          <p:cNvSpPr txBox="1">
            <a:spLocks/>
          </p:cNvSpPr>
          <p:nvPr/>
        </p:nvSpPr>
        <p:spPr>
          <a:xfrm>
            <a:off x="259200" y="2268632"/>
            <a:ext cx="8388292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20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altLang="ko-KR" sz="1200" b="1" dirty="0">
                <a:ea typeface="+mn-ea"/>
                <a:cs typeface="Arial" panose="020B0604020202020204" pitchFamily="34" charset="0"/>
              </a:rPr>
              <a:t>2. </a:t>
            </a:r>
            <a:r>
              <a:rPr lang="ko-KR" altLang="en-US" sz="1200" b="1" dirty="0">
                <a:ea typeface="+mn-ea"/>
                <a:cs typeface="Arial" panose="020B0604020202020204" pitchFamily="34" charset="0"/>
              </a:rPr>
              <a:t>시간별로 </a:t>
            </a:r>
            <a:r>
              <a:rPr lang="en-US" altLang="ko-KR" sz="1200" b="1" dirty="0">
                <a:ea typeface="+mn-ea"/>
                <a:cs typeface="Arial" panose="020B0604020202020204" pitchFamily="34" charset="0"/>
              </a:rPr>
              <a:t>firing rate</a:t>
            </a:r>
            <a:r>
              <a:rPr lang="ko-KR" altLang="en-US" sz="1200" b="1" dirty="0">
                <a:ea typeface="+mn-ea"/>
                <a:cs typeface="Arial" panose="020B0604020202020204" pitchFamily="34" charset="0"/>
              </a:rPr>
              <a:t>의 </a:t>
            </a:r>
            <a:r>
              <a:rPr lang="en-US" altLang="ko-KR" sz="1200" b="1" dirty="0">
                <a:ea typeface="+mn-ea"/>
                <a:cs typeface="Arial" panose="020B0604020202020204" pitchFamily="34" charset="0"/>
              </a:rPr>
              <a:t>2D mapping</a:t>
            </a:r>
            <a:r>
              <a:rPr lang="ko-KR" altLang="en-US" sz="1200" b="1" dirty="0">
                <a:ea typeface="+mn-ea"/>
                <a:cs typeface="Arial" panose="020B0604020202020204" pitchFamily="34" charset="0"/>
              </a:rPr>
              <a:t>이 가능한 코드</a:t>
            </a:r>
            <a:r>
              <a:rPr lang="en-US" altLang="ko-KR" sz="1200" b="1" dirty="0">
                <a:ea typeface="+mn-ea"/>
                <a:cs typeface="Arial" panose="020B0604020202020204" pitchFamily="34" charset="0"/>
              </a:rPr>
              <a:t>.</a:t>
            </a:r>
            <a:br>
              <a:rPr lang="en-US" altLang="ko-KR" sz="1200" b="1" dirty="0">
                <a:ea typeface="+mn-ea"/>
                <a:cs typeface="Arial" panose="020B0604020202020204" pitchFamily="34" charset="0"/>
              </a:rPr>
            </a:br>
            <a:endParaRPr lang="en-US" altLang="ko-KR" sz="1200" b="1" dirty="0">
              <a:ea typeface="+mn-ea"/>
              <a:cs typeface="Arial" panose="020B0604020202020204" pitchFamily="3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-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현재 데이터는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, stimulation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직후에 발생하는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retinal response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에 대한 부분만 사용했지만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,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시간별로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firing rate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의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2D mapping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이 가능하다면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, ganglion cell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을 따라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response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가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propagate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하는 것을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plot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할 수 있을 것이라 예상함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-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또한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, firing rate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뿐만 아니라 다른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parameter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들의 적용이 가능하면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추후에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mapping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을 요하는 다른 팀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(organoid pressure sensor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팀 등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에도 적용하여 큰 도움이 될 것이라고 생각함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ea typeface="+mn-ea"/>
                <a:cs typeface="Arial" panose="020B0604020202020204" pitchFamily="34" charset="0"/>
              </a:rPr>
              <a:t>.</a:t>
            </a:r>
            <a:endParaRPr lang="ko-KR" altLang="en-US" b="1" dirty="0"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199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C3F0B1-0F50-4AE3-A3C6-7900BC4FB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1829-5C9D-447E-915F-2F1FF8D2F9A6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C9F9F46-FD71-44F8-A02F-5DB663612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Suggestion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F05CEC-AB12-42D0-9F46-E9E4FB82F9F8}"/>
              </a:ext>
            </a:extLst>
          </p:cNvPr>
          <p:cNvSpPr txBox="1"/>
          <p:nvPr/>
        </p:nvSpPr>
        <p:spPr>
          <a:xfrm>
            <a:off x="259200" y="968400"/>
            <a:ext cx="4343400" cy="800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i="0" dirty="0">
                <a:solidFill>
                  <a:srgbClr val="333333"/>
                </a:solidFill>
                <a:effectLst/>
                <a:latin typeface="+mn-ea"/>
              </a:rPr>
              <a:t>3. Raster plot </a:t>
            </a:r>
            <a:r>
              <a:rPr lang="ko-KR" altLang="en-US" sz="1200" b="1" i="0" dirty="0">
                <a:solidFill>
                  <a:srgbClr val="333333"/>
                </a:solidFill>
                <a:effectLst/>
                <a:latin typeface="+mn-ea"/>
              </a:rPr>
              <a:t>코드</a:t>
            </a:r>
            <a:r>
              <a:rPr lang="en-US" altLang="ko-KR" sz="1200" b="1" i="0" dirty="0">
                <a:solidFill>
                  <a:srgbClr val="333333"/>
                </a:solidFill>
                <a:effectLst/>
                <a:latin typeface="+mn-ea"/>
              </a:rPr>
              <a:t>.</a:t>
            </a:r>
            <a:br>
              <a:rPr lang="en-US" altLang="ko-KR" sz="1000" b="1" i="0" dirty="0">
                <a:solidFill>
                  <a:srgbClr val="333333"/>
                </a:solidFill>
                <a:effectLst/>
                <a:latin typeface="+mn-ea"/>
              </a:rPr>
            </a:br>
            <a:endParaRPr lang="en-US" altLang="ko-KR" sz="1000" b="1" i="0" dirty="0">
              <a:solidFill>
                <a:srgbClr val="333333"/>
              </a:solidFill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 b="0" dirty="0">
                <a:solidFill>
                  <a:srgbClr val="333333"/>
                </a:solidFill>
                <a:latin typeface="Arial" panose="020B0604020202020204" pitchFamily="34" charset="0"/>
              </a:rPr>
              <a:t>- Retinal response data</a:t>
            </a:r>
            <a:r>
              <a:rPr lang="ko-KR" altLang="en-US" sz="1000" b="0" dirty="0">
                <a:solidFill>
                  <a:srgbClr val="333333"/>
                </a:solidFill>
                <a:latin typeface="Arial" panose="020B0604020202020204" pitchFamily="34" charset="0"/>
              </a:rPr>
              <a:t>에 </a:t>
            </a:r>
            <a:r>
              <a:rPr lang="en-US" altLang="ko-KR" sz="1000" b="0" dirty="0">
                <a:solidFill>
                  <a:srgbClr val="333333"/>
                </a:solidFill>
                <a:latin typeface="Arial" panose="020B0604020202020204" pitchFamily="34" charset="0"/>
              </a:rPr>
              <a:t>raster plot</a:t>
            </a:r>
            <a:r>
              <a:rPr lang="ko-KR" altLang="en-US" sz="1000" b="0" dirty="0">
                <a:solidFill>
                  <a:srgbClr val="333333"/>
                </a:solidFill>
                <a:latin typeface="Arial" panose="020B0604020202020204" pitchFamily="34" charset="0"/>
              </a:rPr>
              <a:t>을 추가 가능함</a:t>
            </a:r>
            <a:r>
              <a:rPr lang="en-US" altLang="ko-KR" sz="1000" b="0" dirty="0">
                <a:solidFill>
                  <a:srgbClr val="333333"/>
                </a:solidFill>
                <a:latin typeface="Arial" panose="020B0604020202020204" pitchFamily="34" charset="0"/>
              </a:rPr>
              <a:t>.</a:t>
            </a:r>
            <a:endParaRPr lang="ko-KR" altLang="en-US" sz="1000" b="0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BED2A3D-95C7-4ECE-ABA4-3CDF83457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996975"/>
            <a:ext cx="4585246" cy="258405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2B5437E-F698-4D18-887C-1CAC26261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39" y="3719266"/>
            <a:ext cx="7553561" cy="291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030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BE307B0-58E0-49CC-82D4-03D16A2E3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1829-5C9D-447E-915F-2F1FF8D2F9A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3EBB69D-E678-4DF0-9921-8CD436723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Suggestion</a:t>
            </a:r>
            <a:endParaRPr lang="ko-KR" altLang="en-US" dirty="0"/>
          </a:p>
        </p:txBody>
      </p:sp>
      <p:pic>
        <p:nvPicPr>
          <p:cNvPr id="1028" name="Picture 4" descr="Fig. 5">
            <a:extLst>
              <a:ext uri="{FF2B5EF4-FFF2-40B4-BE49-F238E27FC236}">
                <a16:creationId xmlns:a16="http://schemas.microsoft.com/office/drawing/2014/main" id="{1ABCE3BF-7FCE-4F80-A8D8-9E642824AE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45"/>
          <a:stretch/>
        </p:blipFill>
        <p:spPr bwMode="auto">
          <a:xfrm>
            <a:off x="1143000" y="1676400"/>
            <a:ext cx="6476764" cy="4135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941156-9D11-4E12-A676-4EA1B5EED6AA}"/>
              </a:ext>
            </a:extLst>
          </p:cNvPr>
          <p:cNvSpPr txBox="1"/>
          <p:nvPr/>
        </p:nvSpPr>
        <p:spPr>
          <a:xfrm>
            <a:off x="7575254" y="6688272"/>
            <a:ext cx="2057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b="0" dirty="0"/>
              <a:t>Communications Materials (2021) 2,28</a:t>
            </a:r>
            <a:endParaRPr lang="ko-KR" altLang="en-US" sz="700" b="0" dirty="0"/>
          </a:p>
        </p:txBody>
      </p:sp>
    </p:spTree>
    <p:extLst>
      <p:ext uri="{BB962C8B-B14F-4D97-AF65-F5344CB8AC3E}">
        <p14:creationId xmlns:p14="http://schemas.microsoft.com/office/powerpoint/2010/main" val="2640992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B6DC2ED-7FAD-43A9-B5C6-4AEA1CDAC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1829-5C9D-447E-915F-2F1FF8D2F9A6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8E873F3-386D-4ECA-9D2F-44B2D8A7A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Firing rate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F7CC0C1-5EFB-4970-A22C-854BC876D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1" y="3003579"/>
            <a:ext cx="4093962" cy="304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C9BB4F5-FC80-48A4-A983-6C5F8C2D0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736" y="3332191"/>
            <a:ext cx="3800475" cy="23907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CD9AD8-DF5F-4681-B31B-FAA9B6577546}"/>
              </a:ext>
            </a:extLst>
          </p:cNvPr>
          <p:cNvSpPr txBox="1"/>
          <p:nvPr/>
        </p:nvSpPr>
        <p:spPr>
          <a:xfrm>
            <a:off x="685800" y="6356378"/>
            <a:ext cx="6172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b="0" dirty="0" err="1">
                <a:latin typeface="Arial" panose="020B0604020202020204" pitchFamily="34" charset="0"/>
                <a:ea typeface="맑은 고딕" panose="020B0503020000020004" pitchFamily="50" charset="-127"/>
              </a:rPr>
              <a:t>histc</a:t>
            </a:r>
            <a:r>
              <a:rPr lang="en-US" altLang="ko-KR" sz="1500" b="0" dirty="0"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1500" b="0" dirty="0">
                <a:latin typeface="Arial" panose="020B0604020202020204" pitchFamily="34" charset="0"/>
                <a:ea typeface="맑은 고딕" panose="020B0503020000020004" pitchFamily="50" charset="-127"/>
              </a:rPr>
              <a:t>코드를 이용하여 </a:t>
            </a:r>
            <a:r>
              <a:rPr lang="en-US" altLang="ko-KR" sz="1500" b="0" dirty="0">
                <a:latin typeface="Arial" panose="020B0604020202020204" pitchFamily="34" charset="0"/>
                <a:ea typeface="맑은 고딕" panose="020B0503020000020004" pitchFamily="50" charset="-127"/>
              </a:rPr>
              <a:t>PSTH</a:t>
            </a:r>
            <a:r>
              <a:rPr lang="ko-KR" altLang="en-US" sz="1500" b="0" dirty="0">
                <a:latin typeface="Arial" panose="020B0604020202020204" pitchFamily="34" charset="0"/>
                <a:ea typeface="맑은 고딕" panose="020B0503020000020004" pitchFamily="50" charset="-127"/>
              </a:rPr>
              <a:t>를 </a:t>
            </a:r>
            <a:r>
              <a:rPr lang="en-US" altLang="ko-KR" sz="1500" b="0" dirty="0">
                <a:latin typeface="Arial" panose="020B0604020202020204" pitchFamily="34" charset="0"/>
                <a:ea typeface="맑은 고딕" panose="020B0503020000020004" pitchFamily="50" charset="-127"/>
              </a:rPr>
              <a:t>plot</a:t>
            </a:r>
            <a:r>
              <a:rPr lang="ko-KR" altLang="en-US" sz="1500" b="0" dirty="0">
                <a:latin typeface="Arial" panose="020B0604020202020204" pitchFamily="34" charset="0"/>
                <a:ea typeface="맑은 고딕" panose="020B0503020000020004" pitchFamily="50" charset="-127"/>
              </a:rPr>
              <a:t>하는 </a:t>
            </a:r>
            <a:r>
              <a:rPr lang="en-US" altLang="ko-KR" sz="1500" b="0" dirty="0">
                <a:latin typeface="Arial" panose="020B0604020202020204" pitchFamily="34" charset="0"/>
                <a:ea typeface="맑은 고딕" panose="020B0503020000020004" pitchFamily="50" charset="-127"/>
              </a:rPr>
              <a:t>chapter</a:t>
            </a:r>
            <a:endParaRPr lang="ko-KR" altLang="en-US" sz="1500" b="0" dirty="0"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86B477-B4D8-444E-8B4C-6C0C71778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086" y="1110286"/>
            <a:ext cx="5829300" cy="184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80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13FDE5F-776F-4648-9B01-C3340147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1829-5C9D-447E-915F-2F1FF8D2F9A6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8911EFE-12A0-4728-9C8F-51F8983D2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290562-E2AA-4F5A-9AF1-A4D25681E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81200"/>
            <a:ext cx="5394121" cy="2743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701E85-8084-4E78-AC52-0A40A9382E71}"/>
              </a:ext>
            </a:extLst>
          </p:cNvPr>
          <p:cNvSpPr txBox="1"/>
          <p:nvPr/>
        </p:nvSpPr>
        <p:spPr>
          <a:xfrm>
            <a:off x="7315200" y="6675437"/>
            <a:ext cx="20268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b="0" dirty="0">
                <a:solidFill>
                  <a:srgbClr val="1A1A1A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Neural Computation (2004) 16 (8): 1661–1687.</a:t>
            </a:r>
            <a:endParaRPr lang="ko-KR" altLang="en-US" sz="700" b="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010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AA7DCFB-6A41-4700-A0DB-6E56C9BF73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9" y="1905000"/>
            <a:ext cx="4740539" cy="3810000"/>
          </a:xfr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CEF161B-6CB1-4554-B285-2BFF3F17E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1829-5C9D-447E-915F-2F1FF8D2F9A6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2C64D72-4CD3-4137-AE4A-2742283ED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1CB6004-464B-4F46-A648-53F3DF6D0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19" y="1524000"/>
            <a:ext cx="406293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56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CEF161B-6CB1-4554-B285-2BFF3F17E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61829-5C9D-447E-915F-2F1FF8D2F9A6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2C64D72-4CD3-4137-AE4A-2742283ED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D56FD2F-94D2-4BCE-B682-396296539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26" y="876188"/>
            <a:ext cx="7508748" cy="540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309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500" b="0" dirty="0">
            <a:latin typeface="Arial" panose="020B0604020202020204" pitchFamily="34" charset="0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98756</TotalTime>
  <Words>234</Words>
  <Application>Microsoft Office PowerPoint</Application>
  <PresentationFormat>화면 슬라이드 쇼(4:3)</PresentationFormat>
  <Paragraphs>32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Times</vt:lpstr>
      <vt:lpstr>Office 테마</vt:lpstr>
      <vt:lpstr>PowerPoint 프레젠테이션</vt:lpstr>
      <vt:lpstr>Suggestion</vt:lpstr>
      <vt:lpstr>Suggestion</vt:lpstr>
      <vt:lpstr>Suggestion</vt:lpstr>
      <vt:lpstr>Firing rate</vt:lpstr>
      <vt:lpstr>Appendix</vt:lpstr>
      <vt:lpstr>Appendix</vt:lpstr>
      <vt:lpstr>Appendix</vt:lpstr>
    </vt:vector>
  </TitlesOfParts>
  <Company>MIE, UIUC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a novel piezo-driven parallel-kinematics micropositioning single crystal silicon XY stage</dc:title>
  <dc:creator>JANG-UNG</dc:creator>
  <cp:lastModifiedBy>정원기</cp:lastModifiedBy>
  <cp:revision>5378</cp:revision>
  <cp:lastPrinted>2015-03-17T04:48:03Z</cp:lastPrinted>
  <dcterms:created xsi:type="dcterms:W3CDTF">2005-05-01T14:45:56Z</dcterms:created>
  <dcterms:modified xsi:type="dcterms:W3CDTF">2021-11-01T01:53:24Z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C:\Users\JIUK_OFFICE\Downloads\200228_ Group meeting_원기.pptx</vt:lpwstr>
  </property>
</Properties>
</file>